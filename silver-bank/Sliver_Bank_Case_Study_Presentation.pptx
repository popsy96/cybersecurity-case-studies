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19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2529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92224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59152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9300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5993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BANK-Case Study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48640" y="1481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Risks and Vulnerabilities during cyber attacks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1956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CYB813 — Advanced Topics in Cybersecurity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50292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871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3: Scenario Analysis and Strategy 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5029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44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Student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029200" cy="329184"/>
          </a:xfrm>
          <a:prstGeom prst="rect">
            <a:avLst/>
          </a:prstGeom>
          <a:solidFill>
            <a:srgbClr val="1624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Poojit Bhaskar KASINA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24020655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93592"/>
            <a:ext cx="5029200" cy="329184"/>
          </a:xfrm>
          <a:prstGeom prst="rect">
            <a:avLst/>
          </a:prstGeom>
          <a:solidFill>
            <a:srgbClr val="1B2F4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21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REGATTE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3632" y="3621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24020636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41064"/>
            <a:ext cx="5029200" cy="329184"/>
          </a:xfrm>
          <a:prstGeom prst="rect">
            <a:avLst/>
          </a:prstGeom>
          <a:solidFill>
            <a:srgbClr val="1624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968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Kipkemei SANG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13632" y="3968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24021026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88536"/>
            <a:ext cx="5029200" cy="329184"/>
          </a:xfrm>
          <a:prstGeom prst="rect">
            <a:avLst/>
          </a:prstGeom>
          <a:solidFill>
            <a:srgbClr val="1B2F4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Betty Jepkorir MUGE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13632" y="4315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24020444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Room5_Group2  ·  MAY 31, 2026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22786C-C772-9538-3E47-C9AE66C3F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178" y="2926080"/>
            <a:ext cx="3268806" cy="1691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978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scope of the 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75688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130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and governance gaps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08376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table and key exposures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41064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325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9959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325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workflow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143000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143000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11978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Red/Blue/Purple Teaming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and collaboration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075688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075688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2130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dependency evaluation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008376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008376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998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4960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for Silver Bank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941064"/>
            <a:ext cx="4206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941064"/>
            <a:ext cx="502920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325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94960" y="39959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94960" y="4325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path forward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on Silver Bank's cybersecurity failures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bank with legacy systems and weak governance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spanning 2015–2020: phishing, credential theft, ATM fraud, ransomware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CISO  responsibilities fell entirely on Tapia (IT &amp; Operations Director)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treated as a technical afterthought, not a strategic priority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denied adequate funding despite repeated incidents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reliant on external firm Diamond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06908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15568"/>
            <a:ext cx="73152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recurring incidents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29968"/>
            <a:ext cx="406908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029968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security leadership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44368"/>
            <a:ext cx="406908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44368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 — critical disruption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858768"/>
            <a:ext cx="406908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858768"/>
            <a:ext cx="73152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but never adopted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&amp; Leadership Issues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failures that amplified cyber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51960" cy="1115568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CISO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cybersecurity duties fell on Tapia (IT &amp; Operations Director), stretched across competing operational demands. No executive accountability for security strategy.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51960" cy="1115568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73152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704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Blind Spot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996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directors had minimal cyber knowledge and denied investment despite repeated incidents. Believed general IT spending was sufficient.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4251960" cy="1115568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14016"/>
            <a:ext cx="73152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BCP / DRP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79806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and Disaster Recovery Plans were not current or tested. Staff did not know what to do during the 2020 ransomware attack.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14016"/>
            <a:ext cx="4251960" cy="1115568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14016"/>
            <a:ext cx="73152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688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Culture or Training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79806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staff training against phishing or credential threats. Employees were unable to identify or respond to attacks effectively.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8503920" cy="1115568"/>
          </a:xfrm>
          <a:prstGeom prst="rect">
            <a:avLst/>
          </a:prstGeom>
          <a:solidFill>
            <a:srgbClr val="0D1B2A"/>
          </a:solidFill>
          <a:ln w="1905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12464"/>
            <a:ext cx="73152" cy="11155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67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Posture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reactive approach to cybersecurity management. Incidents were treated individually rather than addressed through systemic improvement.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Identification &amp; Risk Assessment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inventories, manual reviews, no formal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0972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73936" y="10972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91256" y="10972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97096" y="109728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11496" y="109728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61304" y="10972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444752"/>
            <a:ext cx="8503920" cy="402336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48132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Credentials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73936" y="148132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MFA, poor training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91256" y="148132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97096" y="148132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11496" y="14813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61304" y="14813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2015–17 phishing incidents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883664"/>
            <a:ext cx="8503920" cy="402336"/>
          </a:xfrm>
          <a:prstGeom prst="rect">
            <a:avLst/>
          </a:prstGeom>
          <a:solidFill>
            <a:srgbClr val="162435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192024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Network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73936" y="192024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OS, weak monitoring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91256" y="19202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97096" y="1920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11496" y="1920240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61304" y="1920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fraud incident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322576"/>
            <a:ext cx="8503920" cy="402336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235915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73936" y="235915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SSL, weak PKI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91256" y="235915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97096" y="23591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11496" y="235915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61304" y="2359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encryption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402336"/>
          </a:xfrm>
          <a:prstGeom prst="rect">
            <a:avLst/>
          </a:prstGeom>
          <a:solidFill>
            <a:srgbClr val="162435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" y="2798064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73936" y="2798064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infrastructure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91256" y="279806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97096" y="279806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11496" y="279806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61304" y="27980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ransomware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200400"/>
            <a:ext cx="8503920" cy="402336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3236976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Devices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73936" y="3236976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endpoint controls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191256" y="323697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97096" y="323697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11496" y="323697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61304" y="32369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working staff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3639312"/>
            <a:ext cx="8503920" cy="402336"/>
          </a:xfrm>
          <a:prstGeom prst="rect">
            <a:avLst/>
          </a:prstGeom>
          <a:solidFill>
            <a:srgbClr val="162435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" y="367588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Systems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773936" y="3675888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risk assessment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191256" y="36758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197096" y="36758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11496" y="367588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61304" y="3675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Diamond Security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078224"/>
            <a:ext cx="8503920" cy="402336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411480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BCP/DRP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773936" y="411480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Outdated, unclear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191256" y="411480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197096" y="4114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11496" y="4114800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861304" y="4114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unprepared in 2020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162435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suggested Dynamic Asset Mapping + Continuous Monitoring + ISO 27001 Classification + AI-based Anomaly Detection to enhance bank security 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Decision Making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intelligence and no structured workflow or escalation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420624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17904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issued warning of impending global cyberattack before 2020 incident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Bank had no process to receive, analyse or escalate external alerts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Ramírez acted as sole internal intelligence collector, but unsustainable single point of failure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of MITRE ATT&amp;CK framework to map attacker behaviour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 not correlated, but no situational awareness built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206240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Diamond Security Did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20624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17904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FBI alert as part of their operational response strategy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diversionary attacks on personal accounts from real target: business accounts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isolated infected machines using operational intelligence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securing high-value business accounts during active incident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effective intelligence enables informed tactical decision-making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864608"/>
            <a:ext cx="8503920" cy="347472"/>
          </a:xfrm>
          <a:prstGeom prst="rect">
            <a:avLst/>
          </a:prstGeom>
          <a:solidFill>
            <a:srgbClr val="162435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CISO to own intelligence strategy. No MITRE ATT&amp;CK usage. No real-time escalation workflow. No cross-incident correlation.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Blue / Purple Teaming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posture and gaps in structured security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61488" cy="3767328"/>
          </a:xfrm>
          <a:prstGeom prst="rect">
            <a:avLst/>
          </a:prstGeom>
          <a:solidFill>
            <a:srgbClr val="0D1B2A"/>
          </a:solidFill>
          <a:ln w="25400">
            <a:solidFill>
              <a:srgbClr val="E63946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61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155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 ·  Offense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938528"/>
            <a:ext cx="25420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Security's audits identified outdated SSL, weak PKI, and monitoring gaps. Adversarial analysis revealed diversionary tactic targeting personal accounts while targeting business accounts.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3273552"/>
            <a:ext cx="2542032" cy="0"/>
          </a:xfrm>
          <a:prstGeom prst="line">
            <a:avLst/>
          </a:prstGeom>
          <a:noFill/>
          <a:ln w="6350">
            <a:solidFill>
              <a:srgbClr val="E6394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29768" y="33467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62102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red team. Entirely outsourced. No ongoing adversarial simulation programme.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078992"/>
            <a:ext cx="2761488" cy="3767328"/>
          </a:xfrm>
          <a:prstGeom prst="rect">
            <a:avLst/>
          </a:prstGeom>
          <a:solidFill>
            <a:srgbClr val="0D1B2A"/>
          </a:solidFill>
          <a:ln w="25400">
            <a:solidFill>
              <a:srgbClr val="4361EE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78992"/>
            <a:ext cx="2761488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1155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 ·  Defence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6642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1938528"/>
            <a:ext cx="25420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Bank's ICT staff and Diamond Security isolated infected systems, protected high-value accounts, and restored services during the 2020 ransomware incident.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3273552"/>
            <a:ext cx="2542032" cy="0"/>
          </a:xfrm>
          <a:prstGeom prst="line">
            <a:avLst/>
          </a:prstGeom>
          <a:noFill/>
          <a:ln w="6350">
            <a:solidFill>
              <a:srgbClr val="4361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355848" y="33467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362102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only. Staff stated they 'did not know what to do.' No continuous monitoring or structured incident response procedures in place.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078992"/>
            <a:ext cx="2761488" cy="3767328"/>
          </a:xfrm>
          <a:prstGeom prst="rect">
            <a:avLst/>
          </a:prstGeom>
          <a:solidFill>
            <a:srgbClr val="0D1B2A"/>
          </a:solidFill>
          <a:ln w="25400">
            <a:solidFill>
              <a:srgbClr val="0A9396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78992"/>
            <a:ext cx="2761488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1155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  ·  Collaboration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81928" y="16642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1928" y="1938528"/>
            <a:ext cx="25420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collaboration between Silver Bank and Diamond Security during the incidents shared intelligence, joint analysis, and coordinated response emerged under crisis.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1928" y="3273552"/>
            <a:ext cx="2542032" cy="0"/>
          </a:xfrm>
          <a:prstGeom prst="line">
            <a:avLst/>
          </a:prstGeom>
          <a:noFill/>
          <a:ln w="6350">
            <a:solidFill>
              <a:srgbClr val="0A939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281928" y="33467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81928" y="362102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purple team exercises. Collaboration only occurred reactively. No shared framework (e.g. MITRE ATT&amp;CK) used to systematically map attack paths.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Bank's dependence on Diamond Security — benefits, risks, and lessons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114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78992"/>
            <a:ext cx="411480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specialist cybersecurity expertise not available internally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incident response during 2020 ransomware attack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intelligence (FBI alert actioned by Diamond Security)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resources without full-time permanent headcount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Over-dependence, so outsourcing became a substitute for internal governance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SLAs or performance criteria defined in the relationship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 (PKI/SSL) left unresolved until Diamond Security highlighted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fallback if Diamond Security was unavailable or compromised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162435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187952"/>
            <a:ext cx="73152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Outsourcing cannot substitute for internal governance, clear asset ownership, or security culture. However, Silver Bank lacked all three. A proper balance between external expertise and internal capability is essential for long-term resilience.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priority actions to transform Silver Bank's security posture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435608"/>
            <a:ext cx="402336" cy="40233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447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CISO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17904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leader reporting to the Board who can owns strategy, threat intelligence, incident response, and security operations.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435608"/>
            <a:ext cx="402336" cy="40233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447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17043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ISO 27001 / NIST CSF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517904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asset classification, risk assessment cycles, policy governance, and control implementation across all critical assets.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2734056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74320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46888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Technology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81635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legacy systems; deploy MFA, advanced PKI/encryption, endpoint protection, and continuous network monitoring for all segments.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14016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734056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74320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46888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Threat Intelligence Capability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81635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internal TI function with real-time monitoring, log analysis, anomaly detection, MITRE ATT&amp;CK alignment, and escalation workflow.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12464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94D2BD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" y="4032504"/>
            <a:ext cx="402336" cy="40233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40416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7673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Security Culture &amp; Training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114800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awareness training, phishing simulations, and security embedded in onboarding. Ensure staff know how to detect and respond to threats.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12464"/>
            <a:ext cx="425196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94D2BD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4032504"/>
            <a:ext cx="402336" cy="40233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0416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7673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Red/Blue/Purple Teaming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114800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structured exercises, not just ad hoc crisis response. Use MITRE ATT&amp;CK to map attack paths, find detection gaps, and test controls continuously.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87552"/>
            <a:ext cx="841248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E6394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987552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060704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were organisational, not just technical, so leadership, governance, and culture all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contributed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1975104"/>
            <a:ext cx="841248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975104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48256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roles and outdated technology left Silver Bank vulnerable to phishing, ATM fraud, and ransomware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962656"/>
            <a:ext cx="841248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94D2B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62656"/>
            <a:ext cx="64008" cy="80467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3580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support from Diamond Security helped but exposed the depth of internal capability gaps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950208"/>
            <a:ext cx="841248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52B7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50208"/>
            <a:ext cx="64008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2336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proactive, structured approach, with a CISO, formal frameworks, and trained staff is important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280160"/>
            <a:ext cx="219456" cy="21945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435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 (2008). Technical Guide to Information Security Testing and Assessment (SP 800-115). National Institute of Standards and Technology.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219456" cy="21945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4825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Hutchins, E., Cloppert, M., &amp; Amin, R. (2011). Intelligence-Driven Computer Network Defense Informed by Analysis of Adversary Campaigns and Intrusion Kill Chains.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889504"/>
            <a:ext cx="219456" cy="21945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529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MITRE. (2023). MITRE ATT&amp;CK Framework. https://attack.mitre.org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694176"/>
            <a:ext cx="219456" cy="21945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576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ISO/IEC. (2022). ISO/IEC 27001: Information Security Management Systems. International Organization for Standardization.</a:t>
            </a:r>
            <a:endParaRPr lang="en-US" sz="1200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005840"/>
            <a:ext cx="4572000" cy="2743200"/>
          </a:xfrm>
          <a:prstGeom prst="rect">
            <a:avLst/>
          </a:prstGeom>
          <a:solidFill>
            <a:srgbClr val="0A9396">
              <a:alpha val="85000"/>
            </a:srgbClr>
          </a:solidFill>
          <a:ln w="25400">
            <a:solidFill>
              <a:srgbClr val="0A9396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any questions?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CYB813 — Room5_Group2  ·  Poojit · Ashwini · Dennis · Betty  ·  MAY 31, 2026</a:t>
            </a:r>
            <a:endParaRPr lang="en-US" sz="11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1311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Silver Bank Cybersecurity Case Study - Room5 Group2</dc:title>
  <dc:subject>PptxGenJS Presentation</dc:subject>
  <dc:creator>Poojit</dc:creator>
  <cp:lastModifiedBy>Poojit Bhaskar KASINA</cp:lastModifiedBy>
  <cp:revision>4</cp:revision>
  <dcterms:created xsi:type="dcterms:W3CDTF">2026-05-31T12:51:56Z</dcterms:created>
  <dcterms:modified xsi:type="dcterms:W3CDTF">2026-05-31T13:17:03Z</dcterms:modified>
</cp:coreProperties>
</file>